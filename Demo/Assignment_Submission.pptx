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2" r:id="rId18"/>
  </p:sldIdLst>
  <p:sldSz cx="18288000" cy="10287000"/>
  <p:notesSz cx="6858000" cy="9144000"/>
  <p:embeddedFontLst>
    <p:embeddedFont>
      <p:font typeface="Aptos Narrow" panose="020B0004020202020204" pitchFamily="34" charset="0"/>
      <p:regular r:id="rId19"/>
      <p:bold r:id="rId20"/>
      <p:italic r:id="rId21"/>
      <p:boldItalic r:id="rId22"/>
    </p:embeddedFont>
    <p:embeddedFont>
      <p:font typeface="IBM Plex Sans" panose="020B0503050203000203" pitchFamily="34" charset="0"/>
      <p:regular r:id="rId23"/>
      <p:bold r:id="rId24"/>
      <p:italic r:id="rId25"/>
      <p:boldItalic r:id="rId26"/>
    </p:embeddedFont>
    <p:embeddedFont>
      <p:font typeface="IBM Plex Sans Bold" panose="020B0803050203000203" pitchFamily="34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58" autoAdjust="0"/>
  </p:normalViewPr>
  <p:slideViewPr>
    <p:cSldViewPr>
      <p:cViewPr varScale="1">
        <p:scale>
          <a:sx n="80" d="100"/>
          <a:sy n="80" d="100"/>
        </p:scale>
        <p:origin x="72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827211">
            <a:off x="14295600" y="-2005524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422757">
            <a:off x="-3518081" y="6224076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183557" y="3872480"/>
            <a:ext cx="11920887" cy="3406346"/>
            <a:chOff x="0" y="238092"/>
            <a:chExt cx="15894516" cy="4541794"/>
          </a:xfrm>
        </p:grpSpPr>
        <p:sp>
          <p:nvSpPr>
            <p:cNvPr id="5" name="TextBox 5"/>
            <p:cNvSpPr txBox="1"/>
            <p:nvPr/>
          </p:nvSpPr>
          <p:spPr>
            <a:xfrm>
              <a:off x="0" y="3029065"/>
              <a:ext cx="15894516" cy="1750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Assignment Submission</a:t>
              </a:r>
            </a:p>
            <a:p>
              <a:pPr algn="ctr">
                <a:lnSpc>
                  <a:spcPts val="5320"/>
                </a:lnSpc>
              </a:pPr>
              <a:r>
                <a:rPr lang="en-US" sz="38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Saurabh Prajapati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8092"/>
              <a:ext cx="15894516" cy="2232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7"/>
                </a:lnSpc>
              </a:pPr>
              <a:r>
                <a:rPr lang="en-US" sz="13027" dirty="0" err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Medisyn</a:t>
              </a:r>
              <a:r>
                <a:rPr lang="en-US" sz="13027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Labs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0" y="10104444"/>
            <a:ext cx="18288000" cy="182556"/>
          </a:xfrm>
          <a:prstGeom prst="rect">
            <a:avLst/>
          </a:prstGeom>
          <a:solidFill>
            <a:srgbClr val="253C80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52763" y="5342386"/>
            <a:ext cx="544659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Clustering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679" y="6164604"/>
            <a:ext cx="544659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Medicine Recommendation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43072" y="1009609"/>
            <a:ext cx="601622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200"/>
              </a:lnSpc>
              <a:spcBef>
                <a:spcPct val="0"/>
              </a:spcBef>
            </a:pPr>
            <a:r>
              <a:rPr lang="en-US" sz="8500" b="1" u="none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11F6A41-FB2E-AF46-66F7-4632EA7DAC60}"/>
              </a:ext>
            </a:extLst>
          </p:cNvPr>
          <p:cNvSpPr txBox="1"/>
          <p:nvPr/>
        </p:nvSpPr>
        <p:spPr>
          <a:xfrm>
            <a:off x="1000626" y="3760820"/>
            <a:ext cx="544659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Sentiment Analysis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FBEAD1E-0A61-F72D-4B83-6DB6B3C83A5F}"/>
              </a:ext>
            </a:extLst>
          </p:cNvPr>
          <p:cNvSpPr txBox="1"/>
          <p:nvPr/>
        </p:nvSpPr>
        <p:spPr>
          <a:xfrm>
            <a:off x="1028700" y="4520168"/>
            <a:ext cx="544659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Effectiveness ML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5494007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20773" y="4257675"/>
            <a:ext cx="4252461" cy="178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Sentiment Analysis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214834" y="2188530"/>
            <a:ext cx="8449972" cy="996369"/>
            <a:chOff x="0" y="-28575"/>
            <a:chExt cx="11266630" cy="1328492"/>
          </a:xfrm>
        </p:grpSpPr>
        <p:sp>
          <p:nvSpPr>
            <p:cNvPr id="5" name="TextBox 5"/>
            <p:cNvSpPr txBox="1"/>
            <p:nvPr/>
          </p:nvSpPr>
          <p:spPr>
            <a:xfrm>
              <a:off x="0" y="862532"/>
              <a:ext cx="11266630" cy="437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Assuming positive Sentiment if Rating &gt; 6. To Prepare the Target Label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1266630" cy="59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Assumption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14834" y="4444037"/>
            <a:ext cx="8449972" cy="1371210"/>
            <a:chOff x="0" y="-28575"/>
            <a:chExt cx="11266630" cy="1828280"/>
          </a:xfrm>
        </p:grpSpPr>
        <p:sp>
          <p:nvSpPr>
            <p:cNvPr id="8" name="TextBox 8"/>
            <p:cNvSpPr txBox="1"/>
            <p:nvPr/>
          </p:nvSpPr>
          <p:spPr>
            <a:xfrm>
              <a:off x="0" y="900655"/>
              <a:ext cx="11266630" cy="899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0: Negative Sentiment</a:t>
              </a:r>
            </a:p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1: Positive Sentiment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1266630" cy="59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Binary Classification Problem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rot="-2827211">
            <a:off x="14295600" y="-824263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7"/>
                </a:lnTo>
                <a:lnTo>
                  <a:pt x="0" y="6068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6400" y="395739"/>
            <a:ext cx="14056941" cy="1668017"/>
            <a:chOff x="0" y="0"/>
            <a:chExt cx="18742587" cy="2224022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33"/>
              <a:ext cx="18742587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r>
                <a:rPr lang="en-US" sz="6423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Solution Architecture</a:t>
              </a:r>
              <a:endParaRPr lang="en-US" sz="6423" b="1" u="none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44347"/>
              <a:ext cx="18742587" cy="47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57953" y="-3715579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30727075-0759-D479-6F33-228E3B917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9" y="2851150"/>
            <a:ext cx="17754341" cy="5035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/>
          <p:cNvSpPr/>
          <p:nvPr/>
        </p:nvSpPr>
        <p:spPr>
          <a:xfrm>
            <a:off x="12793993" y="-96652"/>
            <a:ext cx="5494007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3414766" y="4257675"/>
            <a:ext cx="4252461" cy="57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Freeform 12"/>
          <p:cNvSpPr/>
          <p:nvPr/>
        </p:nvSpPr>
        <p:spPr>
          <a:xfrm rot="-7590901">
            <a:off x="-4967868" y="5230211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1423506-8861-5BFF-32B1-920A8182E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947973"/>
              </p:ext>
            </p:extLst>
          </p:nvPr>
        </p:nvGraphicFramePr>
        <p:xfrm>
          <a:off x="1600200" y="1181100"/>
          <a:ext cx="6210300" cy="1585119"/>
        </p:xfrm>
        <a:graphic>
          <a:graphicData uri="http://schemas.openxmlformats.org/drawingml/2006/table">
            <a:tbl>
              <a:tblPr/>
              <a:tblGrid>
                <a:gridCol w="2046264">
                  <a:extLst>
                    <a:ext uri="{9D8B030D-6E8A-4147-A177-3AD203B41FA5}">
                      <a16:colId xmlns:a16="http://schemas.microsoft.com/office/drawing/2014/main" val="3435879026"/>
                    </a:ext>
                  </a:extLst>
                </a:gridCol>
                <a:gridCol w="1435685">
                  <a:extLst>
                    <a:ext uri="{9D8B030D-6E8A-4147-A177-3AD203B41FA5}">
                      <a16:colId xmlns:a16="http://schemas.microsoft.com/office/drawing/2014/main" val="1185974814"/>
                    </a:ext>
                  </a:extLst>
                </a:gridCol>
                <a:gridCol w="2728351">
                  <a:extLst>
                    <a:ext uri="{9D8B030D-6E8A-4147-A177-3AD203B41FA5}">
                      <a16:colId xmlns:a16="http://schemas.microsoft.com/office/drawing/2014/main" val="1281542468"/>
                    </a:ext>
                  </a:extLst>
                </a:gridCol>
              </a:tblGrid>
              <a:tr h="5283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Dataset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Sample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 Rate(%)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494988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317160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73611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9BEDDDE-56A6-B3B0-14D4-12805D2D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938627"/>
              </p:ext>
            </p:extLst>
          </p:nvPr>
        </p:nvGraphicFramePr>
        <p:xfrm>
          <a:off x="1600200" y="4287754"/>
          <a:ext cx="6210300" cy="4316360"/>
        </p:xfrm>
        <a:graphic>
          <a:graphicData uri="http://schemas.openxmlformats.org/drawingml/2006/table">
            <a:tbl>
              <a:tblPr/>
              <a:tblGrid>
                <a:gridCol w="2046264">
                  <a:extLst>
                    <a:ext uri="{9D8B030D-6E8A-4147-A177-3AD203B41FA5}">
                      <a16:colId xmlns:a16="http://schemas.microsoft.com/office/drawing/2014/main" val="3435879026"/>
                    </a:ext>
                  </a:extLst>
                </a:gridCol>
                <a:gridCol w="1435685">
                  <a:extLst>
                    <a:ext uri="{9D8B030D-6E8A-4147-A177-3AD203B41FA5}">
                      <a16:colId xmlns:a16="http://schemas.microsoft.com/office/drawing/2014/main" val="1185974814"/>
                    </a:ext>
                  </a:extLst>
                </a:gridCol>
                <a:gridCol w="2728351">
                  <a:extLst>
                    <a:ext uri="{9D8B030D-6E8A-4147-A177-3AD203B41FA5}">
                      <a16:colId xmlns:a16="http://schemas.microsoft.com/office/drawing/2014/main" val="1281542468"/>
                    </a:ext>
                  </a:extLst>
                </a:gridCol>
              </a:tblGrid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Unique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494988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Effectiveness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 Cardinality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317160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Side-effects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 Cardinality</a:t>
                      </a:r>
                    </a:p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736118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Illness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Cardinality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484105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Medicine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Cardinality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187300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Review benefits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Text Feature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127135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Review Side Effects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Text Feature</a:t>
                      </a:r>
                    </a:p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665873"/>
                  </a:ext>
                </a:extLst>
              </a:tr>
              <a:tr h="528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Review Overall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Text Feature</a:t>
                      </a:r>
                    </a:p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81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743A-4280-D2E1-551C-8B199014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>
            <a:extLst>
              <a:ext uri="{FF2B5EF4-FFF2-40B4-BE49-F238E27FC236}">
                <a16:creationId xmlns:a16="http://schemas.microsoft.com/office/drawing/2014/main" id="{3102B2F5-7C57-C674-8846-15807D213943}"/>
              </a:ext>
            </a:extLst>
          </p:cNvPr>
          <p:cNvSpPr/>
          <p:nvPr/>
        </p:nvSpPr>
        <p:spPr>
          <a:xfrm>
            <a:off x="14782800" y="-96652"/>
            <a:ext cx="3505200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33A03E1-D294-C536-5FBE-81AB362CC65F}"/>
              </a:ext>
            </a:extLst>
          </p:cNvPr>
          <p:cNvSpPr txBox="1"/>
          <p:nvPr/>
        </p:nvSpPr>
        <p:spPr>
          <a:xfrm>
            <a:off x="14793512" y="4300740"/>
            <a:ext cx="4252461" cy="235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Evaluation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Max KS Score is 71 for test and 78 for train </a:t>
            </a:r>
            <a:endParaRPr lang="en-US" sz="28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4FBA777-2A1F-A48E-9AD3-644DE3A8B6CC}"/>
              </a:ext>
            </a:extLst>
          </p:cNvPr>
          <p:cNvSpPr/>
          <p:nvPr/>
        </p:nvSpPr>
        <p:spPr>
          <a:xfrm rot="-7590901">
            <a:off x="-4967868" y="5230211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34395F-BA6B-6B6D-B02B-E2221CBA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535796"/>
              </p:ext>
            </p:extLst>
          </p:nvPr>
        </p:nvGraphicFramePr>
        <p:xfrm>
          <a:off x="914400" y="571500"/>
          <a:ext cx="7848600" cy="1524000"/>
        </p:xfrm>
        <a:graphic>
          <a:graphicData uri="http://schemas.openxmlformats.org/drawingml/2006/table">
            <a:tbl>
              <a:tblPr/>
              <a:tblGrid>
                <a:gridCol w="1962150">
                  <a:extLst>
                    <a:ext uri="{9D8B030D-6E8A-4147-A177-3AD203B41FA5}">
                      <a16:colId xmlns:a16="http://schemas.microsoft.com/office/drawing/2014/main" val="3900641514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345493913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93936467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57141252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f1_score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0702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7955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7358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B00E95-36FE-5456-79C4-507638696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57171"/>
              </p:ext>
            </p:extLst>
          </p:nvPr>
        </p:nvGraphicFramePr>
        <p:xfrm>
          <a:off x="229924" y="2781300"/>
          <a:ext cx="14173204" cy="3401878"/>
        </p:xfrm>
        <a:graphic>
          <a:graphicData uri="http://schemas.openxmlformats.org/drawingml/2006/table">
            <a:tbl>
              <a:tblPr/>
              <a:tblGrid>
                <a:gridCol w="912502">
                  <a:extLst>
                    <a:ext uri="{9D8B030D-6E8A-4147-A177-3AD203B41FA5}">
                      <a16:colId xmlns:a16="http://schemas.microsoft.com/office/drawing/2014/main" val="1315957992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492157414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3191535532"/>
                    </a:ext>
                  </a:extLst>
                </a:gridCol>
                <a:gridCol w="767694">
                  <a:extLst>
                    <a:ext uri="{9D8B030D-6E8A-4147-A177-3AD203B41FA5}">
                      <a16:colId xmlns:a16="http://schemas.microsoft.com/office/drawing/2014/main" val="2997679449"/>
                    </a:ext>
                  </a:extLst>
                </a:gridCol>
                <a:gridCol w="630482">
                  <a:extLst>
                    <a:ext uri="{9D8B030D-6E8A-4147-A177-3AD203B41FA5}">
                      <a16:colId xmlns:a16="http://schemas.microsoft.com/office/drawing/2014/main" val="1110432084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411753600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40419064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3628956084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726190322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3196835932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051781699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728773109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435789673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3837915881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3962780529"/>
                    </a:ext>
                  </a:extLst>
                </a:gridCol>
                <a:gridCol w="912502">
                  <a:extLst>
                    <a:ext uri="{9D8B030D-6E8A-4147-A177-3AD203B41FA5}">
                      <a16:colId xmlns:a16="http://schemas.microsoft.com/office/drawing/2014/main" val="1509030596"/>
                    </a:ext>
                  </a:extLst>
                </a:gridCol>
              </a:tblGrid>
              <a:tr h="530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decile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volume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cum_volume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min_proba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max_proba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negative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cum_positive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cum_negative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positive_rate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negative_rate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cum_positive_rate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cum_negative_rate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capture_rate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non_capture_rate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ks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866007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99.68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99.68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14.45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652244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99.84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29.15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29.05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647987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0.9673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98.71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99.46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43.57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43.06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527959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C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0.9539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0.9673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98.06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99.12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57.84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56.71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77102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0.9282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0.9539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1530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95.82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98.46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71.83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69.37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5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39823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1865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7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0.7673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0.9278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86.5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96.46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84.46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759113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2175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2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0.5685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30.97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7.45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94.51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16.58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77.93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985611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0.1758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0.5675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69.45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84.79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15.21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98.97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38.69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60.28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433600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2797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0.1749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93.57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76.08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23.92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99.91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68.47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31.44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32834"/>
                  </a:ext>
                </a:extLst>
              </a:tr>
              <a:tr h="2871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31.45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380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752517-3670-D769-77D6-0CF38E818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67610"/>
              </p:ext>
            </p:extLst>
          </p:nvPr>
        </p:nvGraphicFramePr>
        <p:xfrm>
          <a:off x="217898" y="6652153"/>
          <a:ext cx="14412512" cy="3538199"/>
        </p:xfrm>
        <a:graphic>
          <a:graphicData uri="http://schemas.openxmlformats.org/drawingml/2006/table">
            <a:tbl>
              <a:tblPr/>
              <a:tblGrid>
                <a:gridCol w="900782">
                  <a:extLst>
                    <a:ext uri="{9D8B030D-6E8A-4147-A177-3AD203B41FA5}">
                      <a16:colId xmlns:a16="http://schemas.microsoft.com/office/drawing/2014/main" val="398297107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618612723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2817119224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1470011401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832939862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844780260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3410700541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890278317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2626901609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3560987355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2290819386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2926083500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1767847706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389299951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1765045823"/>
                    </a:ext>
                  </a:extLst>
                </a:gridCol>
                <a:gridCol w="900782">
                  <a:extLst>
                    <a:ext uri="{9D8B030D-6E8A-4147-A177-3AD203B41FA5}">
                      <a16:colId xmlns:a16="http://schemas.microsoft.com/office/drawing/2014/main" val="1854355908"/>
                    </a:ext>
                  </a:extLst>
                </a:gridCol>
              </a:tblGrid>
              <a:tr h="5515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decile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volume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cum_volume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min_proba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max_proba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negative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cum_positive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cum_negative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negative_rate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cum_positive_rate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cum_negative_rate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capture_rate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non_capture_rate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ks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404538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0.9826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0.9902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15.52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15.52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60957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0.9738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0.9824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99.52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30.63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68798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0.9627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0.9737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46.12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45.57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5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368091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0.9474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0.9624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98.08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61.34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60.25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8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886154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6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0.8812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0.9473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88.35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11.65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96.91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74.93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70.56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BF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606508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D4A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0.6788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0.8793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66.35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33.65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85.22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13.93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71.29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303773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7A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0.3529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0.678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61.54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38.46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87.47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12.53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94.78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24.86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69.92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890503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0.1488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0.3472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22.33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77.67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79.37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20.63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98.21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46.72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51.49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884275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0.0375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0.1477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669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10.58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89.42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99.85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72.13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27.72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519267"/>
                  </a:ext>
                </a:extLst>
              </a:tr>
              <a:tr h="29866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0.0117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0.0375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366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99.03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64.67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35.33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935" marR="5935" marT="5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442627"/>
                  </a:ext>
                </a:extLst>
              </a:tr>
            </a:tbl>
          </a:graphicData>
        </a:graphic>
      </p:graphicFrame>
      <p:sp>
        <p:nvSpPr>
          <p:cNvPr id="7" name="TextBox 2">
            <a:extLst>
              <a:ext uri="{FF2B5EF4-FFF2-40B4-BE49-F238E27FC236}">
                <a16:creationId xmlns:a16="http://schemas.microsoft.com/office/drawing/2014/main" id="{B0C2D7FF-FBA6-BFB9-A2B5-41391714717A}"/>
              </a:ext>
            </a:extLst>
          </p:cNvPr>
          <p:cNvSpPr txBox="1"/>
          <p:nvPr/>
        </p:nvSpPr>
        <p:spPr>
          <a:xfrm>
            <a:off x="694523" y="47510"/>
            <a:ext cx="4252461" cy="55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Evaluation Metrics</a:t>
            </a:r>
            <a:endParaRPr lang="en-US" sz="28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F6088D3-A7B4-79D6-CF37-4165F480697E}"/>
              </a:ext>
            </a:extLst>
          </p:cNvPr>
          <p:cNvSpPr txBox="1"/>
          <p:nvPr/>
        </p:nvSpPr>
        <p:spPr>
          <a:xfrm>
            <a:off x="193829" y="2225057"/>
            <a:ext cx="4252461" cy="55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KS Chart</a:t>
            </a:r>
            <a:endParaRPr lang="en-US" sz="28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B83E928E-C1FB-D72B-6145-DEA53A3C05C8}"/>
              </a:ext>
            </a:extLst>
          </p:cNvPr>
          <p:cNvSpPr txBox="1"/>
          <p:nvPr/>
        </p:nvSpPr>
        <p:spPr>
          <a:xfrm>
            <a:off x="381000" y="6095910"/>
            <a:ext cx="4252461" cy="55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KS Chart</a:t>
            </a:r>
            <a:endParaRPr lang="en-US" sz="28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2D3F65-ED8A-AAC8-73DB-490A25073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048483"/>
              </p:ext>
            </p:extLst>
          </p:nvPr>
        </p:nvGraphicFramePr>
        <p:xfrm>
          <a:off x="9335164" y="1333500"/>
          <a:ext cx="3847436" cy="741045"/>
        </p:xfrm>
        <a:graphic>
          <a:graphicData uri="http://schemas.openxmlformats.org/drawingml/2006/table">
            <a:tbl>
              <a:tblPr/>
              <a:tblGrid>
                <a:gridCol w="2938675">
                  <a:extLst>
                    <a:ext uri="{9D8B030D-6E8A-4147-A177-3AD203B41FA5}">
                      <a16:colId xmlns:a16="http://schemas.microsoft.com/office/drawing/2014/main" val="285184188"/>
                    </a:ext>
                  </a:extLst>
                </a:gridCol>
                <a:gridCol w="908761">
                  <a:extLst>
                    <a:ext uri="{9D8B030D-6E8A-4147-A177-3AD203B41FA5}">
                      <a16:colId xmlns:a16="http://schemas.microsoft.com/office/drawing/2014/main" val="237726949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Probability Threshold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2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6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0583-4317-D5E3-9F75-2AD136B6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A8E2E8-9C48-16F3-6B45-A7C925AD8647}"/>
              </a:ext>
            </a:extLst>
          </p:cNvPr>
          <p:cNvSpPr/>
          <p:nvPr/>
        </p:nvSpPr>
        <p:spPr>
          <a:xfrm>
            <a:off x="0" y="0"/>
            <a:ext cx="5494007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2C3F8A-A267-E097-BA14-06E6641CBFA8}"/>
              </a:ext>
            </a:extLst>
          </p:cNvPr>
          <p:cNvSpPr txBox="1"/>
          <p:nvPr/>
        </p:nvSpPr>
        <p:spPr>
          <a:xfrm>
            <a:off x="620773" y="4257675"/>
            <a:ext cx="4252461" cy="118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Effectiveness Rating Model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AEF64CB-C157-52B1-8AEE-12D0633C854C}"/>
              </a:ext>
            </a:extLst>
          </p:cNvPr>
          <p:cNvGrpSpPr/>
          <p:nvPr/>
        </p:nvGrpSpPr>
        <p:grpSpPr>
          <a:xfrm>
            <a:off x="7214834" y="4444037"/>
            <a:ext cx="8449972" cy="2409956"/>
            <a:chOff x="0" y="-28575"/>
            <a:chExt cx="11266630" cy="3213273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E6AFD31-AA00-0104-EC50-827BB7B10301}"/>
                </a:ext>
              </a:extLst>
            </p:cNvPr>
            <p:cNvSpPr txBox="1"/>
            <p:nvPr/>
          </p:nvSpPr>
          <p:spPr>
            <a:xfrm>
              <a:off x="0" y="900655"/>
              <a:ext cx="11266630" cy="228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0: Ineffective</a:t>
              </a:r>
            </a:p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1: Marginally Effective</a:t>
              </a:r>
            </a:p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2: Moderately Effective</a:t>
              </a:r>
            </a:p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3: Considerably Effective</a:t>
              </a:r>
            </a:p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4: Highly Effective</a:t>
              </a:r>
              <a:endParaRPr lang="en-US" sz="2100" u="none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C99269C-8EF5-42BC-5C42-03CAEC4C6041}"/>
                </a:ext>
              </a:extLst>
            </p:cNvPr>
            <p:cNvSpPr txBox="1"/>
            <p:nvPr/>
          </p:nvSpPr>
          <p:spPr>
            <a:xfrm>
              <a:off x="0" y="-28575"/>
              <a:ext cx="11266630" cy="59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Multi-Class Classification Problem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DA786AF3-2AFD-AE47-9516-5FCBF8A50311}"/>
              </a:ext>
            </a:extLst>
          </p:cNvPr>
          <p:cNvSpPr/>
          <p:nvPr/>
        </p:nvSpPr>
        <p:spPr>
          <a:xfrm rot="-2827211">
            <a:off x="14295600" y="-824263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7"/>
                </a:lnTo>
                <a:lnTo>
                  <a:pt x="0" y="6068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5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73F4-8AF8-4F32-C933-D458BE02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B0DDED-F7AF-9F1F-0C16-491DBE26DB20}"/>
              </a:ext>
            </a:extLst>
          </p:cNvPr>
          <p:cNvGrpSpPr/>
          <p:nvPr/>
        </p:nvGrpSpPr>
        <p:grpSpPr>
          <a:xfrm>
            <a:off x="1676400" y="395739"/>
            <a:ext cx="14056941" cy="1668017"/>
            <a:chOff x="0" y="0"/>
            <a:chExt cx="18742587" cy="2224022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39CF573A-CC64-C5BB-83C2-ABB449F876AE}"/>
                </a:ext>
              </a:extLst>
            </p:cNvPr>
            <p:cNvSpPr txBox="1"/>
            <p:nvPr/>
          </p:nvSpPr>
          <p:spPr>
            <a:xfrm>
              <a:off x="0" y="-9533"/>
              <a:ext cx="18742587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r>
                <a:rPr lang="en-US" sz="6423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Solution Architecture</a:t>
              </a:r>
              <a:endParaRPr lang="en-US" sz="6423" b="1" u="none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0CB862-0695-0155-A3BA-9A8EF5D89665}"/>
                </a:ext>
              </a:extLst>
            </p:cNvPr>
            <p:cNvSpPr txBox="1"/>
            <p:nvPr/>
          </p:nvSpPr>
          <p:spPr>
            <a:xfrm>
              <a:off x="0" y="1744347"/>
              <a:ext cx="18742587" cy="47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7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3CDD5A9-1932-0611-D714-A06A9F38F868}"/>
              </a:ext>
            </a:extLst>
          </p:cNvPr>
          <p:cNvSpPr/>
          <p:nvPr/>
        </p:nvSpPr>
        <p:spPr>
          <a:xfrm>
            <a:off x="11857953" y="-3715579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D7259636-D495-A6E2-F54A-D89F08D8C2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6889"/>
            <a:ext cx="17830800" cy="518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4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705A-28E9-8BF8-CA62-366E1BB1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>
            <a:extLst>
              <a:ext uri="{FF2B5EF4-FFF2-40B4-BE49-F238E27FC236}">
                <a16:creationId xmlns:a16="http://schemas.microsoft.com/office/drawing/2014/main" id="{E01544E5-B205-52D6-262D-831B23D9F839}"/>
              </a:ext>
            </a:extLst>
          </p:cNvPr>
          <p:cNvSpPr/>
          <p:nvPr/>
        </p:nvSpPr>
        <p:spPr>
          <a:xfrm>
            <a:off x="14782800" y="-96652"/>
            <a:ext cx="3505200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B79D79B-83F6-099A-53AE-11240B8AAEA8}"/>
              </a:ext>
            </a:extLst>
          </p:cNvPr>
          <p:cNvSpPr txBox="1"/>
          <p:nvPr/>
        </p:nvSpPr>
        <p:spPr>
          <a:xfrm>
            <a:off x="14793512" y="4300740"/>
            <a:ext cx="4252461" cy="118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Evaluation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7F4CE2-D9A4-FB4A-96EA-1760758C6C30}"/>
              </a:ext>
            </a:extLst>
          </p:cNvPr>
          <p:cNvSpPr/>
          <p:nvPr/>
        </p:nvSpPr>
        <p:spPr>
          <a:xfrm rot="-7590901">
            <a:off x="-4967868" y="5230211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6F7D470-9521-3C85-4B16-DD9023B9B9CD}"/>
              </a:ext>
            </a:extLst>
          </p:cNvPr>
          <p:cNvSpPr txBox="1"/>
          <p:nvPr/>
        </p:nvSpPr>
        <p:spPr>
          <a:xfrm>
            <a:off x="381000" y="5046848"/>
            <a:ext cx="6172200" cy="543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Classification Report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C8A7CA-5C4C-FE96-090F-9FE0A85C7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198086"/>
              </p:ext>
            </p:extLst>
          </p:nvPr>
        </p:nvGraphicFramePr>
        <p:xfrm>
          <a:off x="2286000" y="1485900"/>
          <a:ext cx="6350002" cy="2956716"/>
        </p:xfrm>
        <a:graphic>
          <a:graphicData uri="http://schemas.openxmlformats.org/drawingml/2006/table">
            <a:tbl>
              <a:tblPr/>
              <a:tblGrid>
                <a:gridCol w="1216850">
                  <a:extLst>
                    <a:ext uri="{9D8B030D-6E8A-4147-A177-3AD203B41FA5}">
                      <a16:colId xmlns:a16="http://schemas.microsoft.com/office/drawing/2014/main" val="1414499568"/>
                    </a:ext>
                  </a:extLst>
                </a:gridCol>
                <a:gridCol w="1305434">
                  <a:extLst>
                    <a:ext uri="{9D8B030D-6E8A-4147-A177-3AD203B41FA5}">
                      <a16:colId xmlns:a16="http://schemas.microsoft.com/office/drawing/2014/main" val="2976626282"/>
                    </a:ext>
                  </a:extLst>
                </a:gridCol>
                <a:gridCol w="1305434">
                  <a:extLst>
                    <a:ext uri="{9D8B030D-6E8A-4147-A177-3AD203B41FA5}">
                      <a16:colId xmlns:a16="http://schemas.microsoft.com/office/drawing/2014/main" val="2080340764"/>
                    </a:ext>
                  </a:extLst>
                </a:gridCol>
                <a:gridCol w="1305434">
                  <a:extLst>
                    <a:ext uri="{9D8B030D-6E8A-4147-A177-3AD203B41FA5}">
                      <a16:colId xmlns:a16="http://schemas.microsoft.com/office/drawing/2014/main" val="2562904061"/>
                    </a:ext>
                  </a:extLst>
                </a:gridCol>
                <a:gridCol w="1216850">
                  <a:extLst>
                    <a:ext uri="{9D8B030D-6E8A-4147-A177-3AD203B41FA5}">
                      <a16:colId xmlns:a16="http://schemas.microsoft.com/office/drawing/2014/main" val="4016978254"/>
                    </a:ext>
                  </a:extLst>
                </a:gridCol>
              </a:tblGrid>
              <a:tr h="3285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856800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198114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934663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446176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939440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147893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8940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macro avg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586751"/>
                  </a:ext>
                </a:extLst>
              </a:tr>
              <a:tr h="3285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weighted avg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9312"/>
                  </a:ext>
                </a:extLst>
              </a:tr>
            </a:tbl>
          </a:graphicData>
        </a:graphic>
      </p:graphicFrame>
      <p:sp>
        <p:nvSpPr>
          <p:cNvPr id="11" name="TextBox 2">
            <a:extLst>
              <a:ext uri="{FF2B5EF4-FFF2-40B4-BE49-F238E27FC236}">
                <a16:creationId xmlns:a16="http://schemas.microsoft.com/office/drawing/2014/main" id="{9C133210-72E3-FBAE-DC50-040D4F01D7EF}"/>
              </a:ext>
            </a:extLst>
          </p:cNvPr>
          <p:cNvSpPr txBox="1"/>
          <p:nvPr/>
        </p:nvSpPr>
        <p:spPr>
          <a:xfrm>
            <a:off x="8021" y="22058"/>
            <a:ext cx="5673571" cy="543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Classification Report</a:t>
            </a:r>
            <a:endParaRPr lang="en-US" sz="28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19F9D86-6E18-E1DE-C42A-3F62ECE54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372898"/>
              </p:ext>
            </p:extLst>
          </p:nvPr>
        </p:nvGraphicFramePr>
        <p:xfrm>
          <a:off x="4780224" y="5517285"/>
          <a:ext cx="6718300" cy="4206348"/>
        </p:xfrm>
        <a:graphic>
          <a:graphicData uri="http://schemas.openxmlformats.org/drawingml/2006/table">
            <a:tbl>
              <a:tblPr/>
              <a:tblGrid>
                <a:gridCol w="1343660">
                  <a:extLst>
                    <a:ext uri="{9D8B030D-6E8A-4147-A177-3AD203B41FA5}">
                      <a16:colId xmlns:a16="http://schemas.microsoft.com/office/drawing/2014/main" val="3760229056"/>
                    </a:ext>
                  </a:extLst>
                </a:gridCol>
                <a:gridCol w="1343660">
                  <a:extLst>
                    <a:ext uri="{9D8B030D-6E8A-4147-A177-3AD203B41FA5}">
                      <a16:colId xmlns:a16="http://schemas.microsoft.com/office/drawing/2014/main" val="1506080311"/>
                    </a:ext>
                  </a:extLst>
                </a:gridCol>
                <a:gridCol w="1343660">
                  <a:extLst>
                    <a:ext uri="{9D8B030D-6E8A-4147-A177-3AD203B41FA5}">
                      <a16:colId xmlns:a16="http://schemas.microsoft.com/office/drawing/2014/main" val="547399914"/>
                    </a:ext>
                  </a:extLst>
                </a:gridCol>
                <a:gridCol w="1343660">
                  <a:extLst>
                    <a:ext uri="{9D8B030D-6E8A-4147-A177-3AD203B41FA5}">
                      <a16:colId xmlns:a16="http://schemas.microsoft.com/office/drawing/2014/main" val="3810541521"/>
                    </a:ext>
                  </a:extLst>
                </a:gridCol>
                <a:gridCol w="1343660">
                  <a:extLst>
                    <a:ext uri="{9D8B030D-6E8A-4147-A177-3AD203B41FA5}">
                      <a16:colId xmlns:a16="http://schemas.microsoft.com/office/drawing/2014/main" val="2401168176"/>
                    </a:ext>
                  </a:extLst>
                </a:gridCol>
              </a:tblGrid>
              <a:tr h="467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29057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381379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169656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814585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842293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092013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261625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macro avg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62413"/>
                  </a:ext>
                </a:extLst>
              </a:tr>
              <a:tr h="467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weighted avg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3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176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0598-F175-3EC5-7C51-AF882140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B4F549-8DE6-4125-4AE6-569B2C60AC24}"/>
              </a:ext>
            </a:extLst>
          </p:cNvPr>
          <p:cNvSpPr/>
          <p:nvPr/>
        </p:nvSpPr>
        <p:spPr>
          <a:xfrm>
            <a:off x="0" y="0"/>
            <a:ext cx="5494007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BFEC861-7CB6-3E95-6E70-296B5F18D0AE}"/>
              </a:ext>
            </a:extLst>
          </p:cNvPr>
          <p:cNvSpPr txBox="1"/>
          <p:nvPr/>
        </p:nvSpPr>
        <p:spPr>
          <a:xfrm>
            <a:off x="620773" y="4257675"/>
            <a:ext cx="4252461" cy="118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Cohorts Analysis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4E7D080-06C7-42C2-D255-86FD43BB40AD}"/>
              </a:ext>
            </a:extLst>
          </p:cNvPr>
          <p:cNvSpPr txBox="1"/>
          <p:nvPr/>
        </p:nvSpPr>
        <p:spPr>
          <a:xfrm>
            <a:off x="7214834" y="4444037"/>
            <a:ext cx="8449972" cy="4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1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Clustering Analysis Problem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F54580B-18FE-1406-3957-BB5C6347639C}"/>
              </a:ext>
            </a:extLst>
          </p:cNvPr>
          <p:cNvSpPr/>
          <p:nvPr/>
        </p:nvSpPr>
        <p:spPr>
          <a:xfrm rot="-2827211">
            <a:off x="14295600" y="-824263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7"/>
                </a:lnTo>
                <a:lnTo>
                  <a:pt x="0" y="6068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66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5604-A17D-280D-29A7-53457872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6A8422-9720-F1AF-E7BE-CF97CEAA68E4}"/>
              </a:ext>
            </a:extLst>
          </p:cNvPr>
          <p:cNvGrpSpPr/>
          <p:nvPr/>
        </p:nvGrpSpPr>
        <p:grpSpPr>
          <a:xfrm>
            <a:off x="1676400" y="395739"/>
            <a:ext cx="14056941" cy="1668017"/>
            <a:chOff x="0" y="0"/>
            <a:chExt cx="18742587" cy="2224022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EF53D894-465D-A516-813C-D5BF5517FFE4}"/>
                </a:ext>
              </a:extLst>
            </p:cNvPr>
            <p:cNvSpPr txBox="1"/>
            <p:nvPr/>
          </p:nvSpPr>
          <p:spPr>
            <a:xfrm>
              <a:off x="0" y="-9533"/>
              <a:ext cx="18742587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r>
                <a:rPr lang="en-US" sz="6423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Solution Architecture</a:t>
              </a:r>
              <a:endParaRPr lang="en-US" sz="6423" b="1" u="none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BB9FB34-23F4-F0D0-8801-15C26751D40B}"/>
                </a:ext>
              </a:extLst>
            </p:cNvPr>
            <p:cNvSpPr txBox="1"/>
            <p:nvPr/>
          </p:nvSpPr>
          <p:spPr>
            <a:xfrm>
              <a:off x="0" y="1744347"/>
              <a:ext cx="18742587" cy="47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7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B8AC452-6FD1-D292-CF44-790132745EF9}"/>
              </a:ext>
            </a:extLst>
          </p:cNvPr>
          <p:cNvSpPr/>
          <p:nvPr/>
        </p:nvSpPr>
        <p:spPr>
          <a:xfrm>
            <a:off x="11857953" y="-3715579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7102CA9-9B2F-B7A8-D6AC-7AD5941F4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18650"/>
            <a:ext cx="17231878" cy="70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80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09B9-BD77-D3F8-5EBE-7D4248FB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>
            <a:extLst>
              <a:ext uri="{FF2B5EF4-FFF2-40B4-BE49-F238E27FC236}">
                <a16:creationId xmlns:a16="http://schemas.microsoft.com/office/drawing/2014/main" id="{132647FB-5FBB-C4DE-7565-2E8285725F31}"/>
              </a:ext>
            </a:extLst>
          </p:cNvPr>
          <p:cNvSpPr/>
          <p:nvPr/>
        </p:nvSpPr>
        <p:spPr>
          <a:xfrm>
            <a:off x="14782800" y="-96652"/>
            <a:ext cx="3505200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AA89911-F920-7ABC-2D6B-105BE144245D}"/>
              </a:ext>
            </a:extLst>
          </p:cNvPr>
          <p:cNvSpPr txBox="1"/>
          <p:nvPr/>
        </p:nvSpPr>
        <p:spPr>
          <a:xfrm>
            <a:off x="14793512" y="4300740"/>
            <a:ext cx="4252461" cy="118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Cluster 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F008D3D-0ED6-61AD-2930-C4E76BE99EFA}"/>
              </a:ext>
            </a:extLst>
          </p:cNvPr>
          <p:cNvSpPr/>
          <p:nvPr/>
        </p:nvSpPr>
        <p:spPr>
          <a:xfrm rot="-7590901">
            <a:off x="-4967868" y="5230211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AE9423FC-102A-C387-2333-21CBEBEC743E}"/>
              </a:ext>
            </a:extLst>
          </p:cNvPr>
          <p:cNvSpPr txBox="1"/>
          <p:nvPr/>
        </p:nvSpPr>
        <p:spPr>
          <a:xfrm>
            <a:off x="8021" y="22058"/>
            <a:ext cx="5673571" cy="543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Embedding Model Used </a:t>
            </a:r>
            <a:endParaRPr lang="en-US" sz="28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B848D0CA-7802-099A-9FD0-569020CC9761}"/>
              </a:ext>
            </a:extLst>
          </p:cNvPr>
          <p:cNvGrpSpPr/>
          <p:nvPr/>
        </p:nvGrpSpPr>
        <p:grpSpPr>
          <a:xfrm>
            <a:off x="130927" y="891858"/>
            <a:ext cx="15109073" cy="1635010"/>
            <a:chOff x="0" y="-28575"/>
            <a:chExt cx="4943766" cy="2180013"/>
          </a:xfrm>
        </p:grpSpPr>
        <p:sp>
          <p:nvSpPr>
            <p:cNvPr id="5" name="TextBox 14">
              <a:extLst>
                <a:ext uri="{FF2B5EF4-FFF2-40B4-BE49-F238E27FC236}">
                  <a16:creationId xmlns:a16="http://schemas.microsoft.com/office/drawing/2014/main" id="{0BDD1426-FBAD-65BA-A264-666B897505A9}"/>
                </a:ext>
              </a:extLst>
            </p:cNvPr>
            <p:cNvSpPr txBox="1"/>
            <p:nvPr/>
          </p:nvSpPr>
          <p:spPr>
            <a:xfrm>
              <a:off x="0" y="-28575"/>
              <a:ext cx="4943766" cy="59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S-</a:t>
              </a:r>
              <a:r>
                <a:rPr lang="en-US" sz="2800" b="1" dirty="0" err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PubMedBert</a:t>
              </a:r>
              <a:r>
                <a:rPr lang="en-US" sz="2800" b="1" dirty="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-MS-MARCO</a:t>
              </a:r>
            </a:p>
          </p:txBody>
        </p:sp>
        <p:sp>
          <p:nvSpPr>
            <p:cNvPr id="6" name="TextBox 15">
              <a:extLst>
                <a:ext uri="{FF2B5EF4-FFF2-40B4-BE49-F238E27FC236}">
                  <a16:creationId xmlns:a16="http://schemas.microsoft.com/office/drawing/2014/main" id="{F39D090E-D48F-7D0C-A904-E29A2D7877A6}"/>
                </a:ext>
              </a:extLst>
            </p:cNvPr>
            <p:cNvSpPr txBox="1"/>
            <p:nvPr/>
          </p:nvSpPr>
          <p:spPr>
            <a:xfrm>
              <a:off x="0" y="1055497"/>
              <a:ext cx="4943766" cy="10959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This is a sentence-transformers model : It maps sentences &amp; paragraphs to a 768 dimensional dense vector space. It can be used for information retrieval task in medical/health text domain</a:t>
              </a:r>
            </a:p>
          </p:txBody>
        </p:sp>
      </p:grpSp>
      <p:sp>
        <p:nvSpPr>
          <p:cNvPr id="17" name="TextBox 2">
            <a:extLst>
              <a:ext uri="{FF2B5EF4-FFF2-40B4-BE49-F238E27FC236}">
                <a16:creationId xmlns:a16="http://schemas.microsoft.com/office/drawing/2014/main" id="{1D7563AC-8283-BD71-8929-8EBB4CD7396F}"/>
              </a:ext>
            </a:extLst>
          </p:cNvPr>
          <p:cNvSpPr txBox="1"/>
          <p:nvPr/>
        </p:nvSpPr>
        <p:spPr>
          <a:xfrm>
            <a:off x="541417" y="8156818"/>
            <a:ext cx="4252461" cy="57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Cluster View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" name="Picture 20" descr="A group of colorful dots&#10;&#10;AI-generated content may be incorrect.">
            <a:extLst>
              <a:ext uri="{FF2B5EF4-FFF2-40B4-BE49-F238E27FC236}">
                <a16:creationId xmlns:a16="http://schemas.microsoft.com/office/drawing/2014/main" id="{14D0DCFB-9434-8DFF-3EFC-02E46CCB1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48" y="2839194"/>
            <a:ext cx="14674014" cy="519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21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6F8D-19C3-50D1-6D63-4500DFB9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>
            <a:extLst>
              <a:ext uri="{FF2B5EF4-FFF2-40B4-BE49-F238E27FC236}">
                <a16:creationId xmlns:a16="http://schemas.microsoft.com/office/drawing/2014/main" id="{81FBA3B6-34F1-5B70-C828-3D1E56E942A5}"/>
              </a:ext>
            </a:extLst>
          </p:cNvPr>
          <p:cNvSpPr/>
          <p:nvPr/>
        </p:nvSpPr>
        <p:spPr>
          <a:xfrm>
            <a:off x="14782800" y="-96652"/>
            <a:ext cx="3505200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91AA973-439C-202A-0351-4FE643985833}"/>
              </a:ext>
            </a:extLst>
          </p:cNvPr>
          <p:cNvSpPr txBox="1"/>
          <p:nvPr/>
        </p:nvSpPr>
        <p:spPr>
          <a:xfrm>
            <a:off x="14793512" y="4300740"/>
            <a:ext cx="4252461" cy="178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Cluster Interpretation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7CC0438-746D-9BB9-07FD-1CB6B9335AF4}"/>
              </a:ext>
            </a:extLst>
          </p:cNvPr>
          <p:cNvSpPr/>
          <p:nvPr/>
        </p:nvSpPr>
        <p:spPr>
          <a:xfrm rot="-7590901">
            <a:off x="-4967868" y="5230211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345BCF-561B-2AE0-01C2-103760CDE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75767"/>
              </p:ext>
            </p:extLst>
          </p:nvPr>
        </p:nvGraphicFramePr>
        <p:xfrm>
          <a:off x="186489" y="321536"/>
          <a:ext cx="12877799" cy="2920918"/>
        </p:xfrm>
        <a:graphic>
          <a:graphicData uri="http://schemas.openxmlformats.org/drawingml/2006/table">
            <a:tbl>
              <a:tblPr/>
              <a:tblGrid>
                <a:gridCol w="1870911">
                  <a:extLst>
                    <a:ext uri="{9D8B030D-6E8A-4147-A177-3AD203B41FA5}">
                      <a16:colId xmlns:a16="http://schemas.microsoft.com/office/drawing/2014/main" val="54293827"/>
                    </a:ext>
                  </a:extLst>
                </a:gridCol>
                <a:gridCol w="1740079">
                  <a:extLst>
                    <a:ext uri="{9D8B030D-6E8A-4147-A177-3AD203B41FA5}">
                      <a16:colId xmlns:a16="http://schemas.microsoft.com/office/drawing/2014/main" val="2746633053"/>
                    </a:ext>
                  </a:extLst>
                </a:gridCol>
                <a:gridCol w="1826406">
                  <a:extLst>
                    <a:ext uri="{9D8B030D-6E8A-4147-A177-3AD203B41FA5}">
                      <a16:colId xmlns:a16="http://schemas.microsoft.com/office/drawing/2014/main" val="3067650814"/>
                    </a:ext>
                  </a:extLst>
                </a:gridCol>
                <a:gridCol w="2695461">
                  <a:extLst>
                    <a:ext uri="{9D8B030D-6E8A-4147-A177-3AD203B41FA5}">
                      <a16:colId xmlns:a16="http://schemas.microsoft.com/office/drawing/2014/main" val="1621065928"/>
                    </a:ext>
                  </a:extLst>
                </a:gridCol>
                <a:gridCol w="1212958">
                  <a:extLst>
                    <a:ext uri="{9D8B030D-6E8A-4147-A177-3AD203B41FA5}">
                      <a16:colId xmlns:a16="http://schemas.microsoft.com/office/drawing/2014/main" val="2304046709"/>
                    </a:ext>
                  </a:extLst>
                </a:gridCol>
                <a:gridCol w="3531984">
                  <a:extLst>
                    <a:ext uri="{9D8B030D-6E8A-4147-A177-3AD203B41FA5}">
                      <a16:colId xmlns:a16="http://schemas.microsoft.com/office/drawing/2014/main" val="2294414664"/>
                    </a:ext>
                  </a:extLst>
                </a:gridCol>
              </a:tblGrid>
              <a:tr h="7200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Cluster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</a:t>
                      </a: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Rating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 Medicine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 Illness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Reviews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 Theme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655905"/>
                  </a:ext>
                </a:extLst>
              </a:tr>
              <a:tr h="7200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dirty="0"/>
                        <a:t>Dermatology / Cosmetic Treatment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7.12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Retin-A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Acne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620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Dermatology &amp; Cosmetic Skin Care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900710"/>
                  </a:ext>
                </a:extLst>
              </a:tr>
              <a:tr h="720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Hormonal / Menopause / Pain-Related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6.75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nexium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Birth Control / Menopause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2,028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Hormonal &amp; Pain Management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42558"/>
                  </a:ext>
                </a:extLst>
              </a:tr>
              <a:tr h="7200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dirty="0"/>
                        <a:t>Mental Health / Depression Treatment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7.14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Lexapro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Depression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1,495</a:t>
                      </a: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Mental Health &amp; Antidepressants</a:t>
                      </a:r>
                    </a:p>
                    <a:p>
                      <a:pPr algn="ctr" fontAlgn="b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19" marR="8919" marT="89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0970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C8C2F4-1CE0-A9E4-8CDB-F09F5FE77BE6}"/>
              </a:ext>
            </a:extLst>
          </p:cNvPr>
          <p:cNvSpPr txBox="1"/>
          <p:nvPr/>
        </p:nvSpPr>
        <p:spPr>
          <a:xfrm>
            <a:off x="417095" y="3223152"/>
            <a:ext cx="1241658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Cluster 0 – Dermatology / Cosmetic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Terms:</a:t>
            </a:r>
            <a:r>
              <a:rPr lang="en-IN" dirty="0"/>
              <a:t> acne, skin, </a:t>
            </a:r>
            <a:r>
              <a:rPr lang="en-IN" dirty="0" err="1"/>
              <a:t>retin</a:t>
            </a:r>
            <a:r>
              <a:rPr lang="en-IN" dirty="0"/>
              <a:t>, </a:t>
            </a:r>
            <a:r>
              <a:rPr lang="en-IN" dirty="0" err="1"/>
              <a:t>tazorac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Sentiment:</a:t>
            </a:r>
            <a:r>
              <a:rPr lang="en-IN" dirty="0"/>
              <a:t> High satisfaction with topical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Side Effects:</a:t>
            </a:r>
            <a:r>
              <a:rPr lang="en-IN" dirty="0"/>
              <a:t> Redness, irritation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Benefit Keywords:</a:t>
            </a:r>
            <a:r>
              <a:rPr lang="en-IN" dirty="0"/>
              <a:t> “skin improvement”, “acne cured”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i="1" dirty="0"/>
              <a:t>Interpretation:</a:t>
            </a:r>
            <a:r>
              <a:rPr lang="en-IN" dirty="0"/>
              <a:t> Cluster 0 represents </a:t>
            </a:r>
            <a:r>
              <a:rPr lang="en-IN" b="1" dirty="0"/>
              <a:t>topical treatments for acne &amp; skincare</a:t>
            </a:r>
            <a:r>
              <a:rPr lang="en-IN" dirty="0"/>
              <a:t>, often used for cosmetic improvement.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Cluster 1 – Hormonal / Menopause / Pain-Related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Terms:</a:t>
            </a:r>
            <a:r>
              <a:rPr lang="en-IN" dirty="0"/>
              <a:t> migraines, menopause, fibromyalgia, pill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Sentiment:</a:t>
            </a:r>
            <a:r>
              <a:rPr lang="en-IN" dirty="0"/>
              <a:t> Moderate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Side Effects:</a:t>
            </a:r>
            <a:r>
              <a:rPr lang="en-IN" dirty="0"/>
              <a:t> Severe or recurring symptoms (“fatigue”, “severe symptom”)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Benefit Keywords:</a:t>
            </a:r>
            <a:r>
              <a:rPr lang="en-IN" dirty="0"/>
              <a:t> “relief reflux”, “reduced reflux”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i="1" dirty="0" err="1"/>
              <a:t>nterpretation</a:t>
            </a:r>
            <a:r>
              <a:rPr lang="en-IN" i="1" dirty="0"/>
              <a:t>:</a:t>
            </a:r>
            <a:r>
              <a:rPr lang="en-IN" dirty="0"/>
              <a:t> Cluster 1 reflects </a:t>
            </a:r>
            <a:r>
              <a:rPr lang="en-IN" b="1" dirty="0"/>
              <a:t>complex hormonal or pain management therapies</a:t>
            </a:r>
            <a:r>
              <a:rPr lang="en-IN" dirty="0"/>
              <a:t> — often with </a:t>
            </a:r>
            <a:r>
              <a:rPr lang="en-IN" b="1" dirty="0"/>
              <a:t>mixed outcomes and strong side effects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Cluster 2 – Mental Health / Depression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Terms:</a:t>
            </a:r>
            <a:r>
              <a:rPr lang="en-IN" dirty="0"/>
              <a:t> depression, insomnia, </a:t>
            </a:r>
            <a:r>
              <a:rPr lang="en-IN" dirty="0" err="1"/>
              <a:t>lexapro</a:t>
            </a:r>
            <a:r>
              <a:rPr lang="en-IN" dirty="0"/>
              <a:t>, </a:t>
            </a:r>
            <a:r>
              <a:rPr lang="en-IN" dirty="0" err="1"/>
              <a:t>xanax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Sentiment:</a:t>
            </a:r>
            <a:r>
              <a:rPr lang="en-IN" dirty="0"/>
              <a:t> High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Side Effects:</a:t>
            </a:r>
            <a:r>
              <a:rPr lang="en-IN" dirty="0"/>
              <a:t> Drowsiness, fatigue, restlessness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Benefit Keywords:</a:t>
            </a:r>
            <a:r>
              <a:rPr lang="en-IN" dirty="0"/>
              <a:t> “effective antidepressant”, “anxiety relief”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i="1" dirty="0"/>
              <a:t>Interpretation:</a:t>
            </a:r>
            <a:r>
              <a:rPr lang="en-IN" dirty="0"/>
              <a:t> Cluster 2 represents </a:t>
            </a:r>
            <a:r>
              <a:rPr lang="en-IN" b="1" dirty="0"/>
              <a:t>antidepressants for mental health improvement</a:t>
            </a:r>
            <a:r>
              <a:rPr lang="en-IN" dirty="0"/>
              <a:t>, with </a:t>
            </a:r>
            <a:r>
              <a:rPr lang="en-IN" b="1" dirty="0"/>
              <a:t>consistent benefit patterns</a:t>
            </a:r>
            <a:r>
              <a:rPr lang="en-IN" dirty="0"/>
              <a:t> but </a:t>
            </a:r>
            <a:r>
              <a:rPr lang="en-IN" b="1" dirty="0"/>
              <a:t>notable fatigue side effects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673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FBF10-5347-A065-FF1D-B6A9BD42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005C0A-84BE-09D6-3760-750B154AB5CD}"/>
              </a:ext>
            </a:extLst>
          </p:cNvPr>
          <p:cNvSpPr/>
          <p:nvPr/>
        </p:nvSpPr>
        <p:spPr>
          <a:xfrm>
            <a:off x="0" y="0"/>
            <a:ext cx="5494007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1F5448F-7874-FB1A-4148-001DAC35F9C2}"/>
              </a:ext>
            </a:extLst>
          </p:cNvPr>
          <p:cNvSpPr txBox="1"/>
          <p:nvPr/>
        </p:nvSpPr>
        <p:spPr>
          <a:xfrm>
            <a:off x="620773" y="4257675"/>
            <a:ext cx="4252461" cy="118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Medicine Recommendation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F18CA83-5163-C623-914B-DF0C969A49C9}"/>
              </a:ext>
            </a:extLst>
          </p:cNvPr>
          <p:cNvSpPr/>
          <p:nvPr/>
        </p:nvSpPr>
        <p:spPr>
          <a:xfrm rot="-2827211">
            <a:off x="14295600" y="-824263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7"/>
                </a:lnTo>
                <a:lnTo>
                  <a:pt x="0" y="6068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8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8FCD-E075-6B1C-EC9D-69747189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EA7D14-10D5-4027-BD08-8EE6FBCB318A}"/>
              </a:ext>
            </a:extLst>
          </p:cNvPr>
          <p:cNvGrpSpPr/>
          <p:nvPr/>
        </p:nvGrpSpPr>
        <p:grpSpPr>
          <a:xfrm>
            <a:off x="1676400" y="395739"/>
            <a:ext cx="14056941" cy="1668017"/>
            <a:chOff x="0" y="0"/>
            <a:chExt cx="18742587" cy="2224022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E16A3915-71EC-E247-3BA9-C9C8C7CD35FA}"/>
                </a:ext>
              </a:extLst>
            </p:cNvPr>
            <p:cNvSpPr txBox="1"/>
            <p:nvPr/>
          </p:nvSpPr>
          <p:spPr>
            <a:xfrm>
              <a:off x="0" y="-9533"/>
              <a:ext cx="18742587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r>
                <a:rPr lang="en-US" sz="6423" u="none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Solution Architecture</a:t>
              </a:r>
              <a:endParaRPr lang="en-US" sz="6423" b="1" u="none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5D7C12-C3E3-DFFA-3B31-7D9D141A1956}"/>
                </a:ext>
              </a:extLst>
            </p:cNvPr>
            <p:cNvSpPr txBox="1"/>
            <p:nvPr/>
          </p:nvSpPr>
          <p:spPr>
            <a:xfrm>
              <a:off x="0" y="1744347"/>
              <a:ext cx="18742587" cy="47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7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31D9AFB-1A45-6AFC-3E6B-A67DB5EE5BE8}"/>
              </a:ext>
            </a:extLst>
          </p:cNvPr>
          <p:cNvSpPr/>
          <p:nvPr/>
        </p:nvSpPr>
        <p:spPr>
          <a:xfrm>
            <a:off x="11857953" y="-3715579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587633-1A5A-708D-A5FF-EF76B4B92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49" y="1149350"/>
            <a:ext cx="15647401" cy="746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78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6C7F3-85FF-7482-2520-5027715D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>
            <a:extLst>
              <a:ext uri="{FF2B5EF4-FFF2-40B4-BE49-F238E27FC236}">
                <a16:creationId xmlns:a16="http://schemas.microsoft.com/office/drawing/2014/main" id="{F7AF0E6A-A765-4F0F-53E5-74AD3333CAE9}"/>
              </a:ext>
            </a:extLst>
          </p:cNvPr>
          <p:cNvSpPr/>
          <p:nvPr/>
        </p:nvSpPr>
        <p:spPr>
          <a:xfrm>
            <a:off x="13716000" y="-96652"/>
            <a:ext cx="4572000" cy="10287000"/>
          </a:xfrm>
          <a:prstGeom prst="rect">
            <a:avLst/>
          </a:prstGeom>
          <a:solidFill>
            <a:srgbClr val="D9D9D9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36D34BE-4F7E-6AB9-30CA-F22FF5F5409B}"/>
              </a:ext>
            </a:extLst>
          </p:cNvPr>
          <p:cNvSpPr txBox="1"/>
          <p:nvPr/>
        </p:nvSpPr>
        <p:spPr>
          <a:xfrm>
            <a:off x="14003455" y="4305300"/>
            <a:ext cx="4252461" cy="118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Sample Recommendation</a:t>
            </a:r>
            <a:endParaRPr lang="en-US" sz="3900" u="none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5ADABCB-692C-6EBF-EA25-A6DB99177BBD}"/>
              </a:ext>
            </a:extLst>
          </p:cNvPr>
          <p:cNvSpPr/>
          <p:nvPr/>
        </p:nvSpPr>
        <p:spPr>
          <a:xfrm rot="-7590901">
            <a:off x="-4967868" y="5230211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1A3D30B-3428-186C-6407-E95B76D9A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57987"/>
              </p:ext>
            </p:extLst>
          </p:nvPr>
        </p:nvGraphicFramePr>
        <p:xfrm>
          <a:off x="762000" y="723900"/>
          <a:ext cx="10210800" cy="4999850"/>
        </p:xfrm>
        <a:graphic>
          <a:graphicData uri="http://schemas.openxmlformats.org/drawingml/2006/table">
            <a:tbl>
              <a:tblPr/>
              <a:tblGrid>
                <a:gridCol w="5105400">
                  <a:extLst>
                    <a:ext uri="{9D8B030D-6E8A-4147-A177-3AD203B41FA5}">
                      <a16:colId xmlns:a16="http://schemas.microsoft.com/office/drawing/2014/main" val="3760229056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506080311"/>
                    </a:ext>
                  </a:extLst>
                </a:gridCol>
              </a:tblGrid>
              <a:tr h="999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Symptoms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Recommended Medicine (Top 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29057"/>
                  </a:ext>
                </a:extLst>
              </a:tr>
              <a:tr h="999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dirty="0"/>
                        <a:t>Having trouble sleeping and mild anxiety.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Ativan,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klonopin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381379"/>
                  </a:ext>
                </a:extLst>
              </a:tr>
              <a:tr h="999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dirty="0"/>
                        <a:t>Constant sneezing and watery eyes due to seasonal allergies.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Allegra,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rhinocort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169656"/>
                  </a:ext>
                </a:extLst>
              </a:tr>
              <a:tr h="999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dirty="0"/>
                        <a:t>Experiencing hot flashes, mood swings, and irregular periods.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Femhrt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climara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814585"/>
                  </a:ext>
                </a:extLst>
              </a:tr>
              <a:tr h="999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dirty="0"/>
                        <a:t>I’m looking for something that can help reduce acne scars and improve overall skin texture. My pores are large and skin looks dull.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Avita,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retin-a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-micro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842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82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3089332" y="3816567"/>
            <a:ext cx="7028470" cy="2962349"/>
            <a:chOff x="0" y="-9533"/>
            <a:chExt cx="9371294" cy="394979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33"/>
              <a:ext cx="9371294" cy="3949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r>
                <a:rPr lang="en-US" sz="6423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Thank You</a:t>
              </a:r>
            </a:p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endParaRPr lang="en-US" sz="6423" u="none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ctr">
                <a:lnSpc>
                  <a:spcPts val="7707"/>
                </a:lnSpc>
                <a:spcBef>
                  <a:spcPct val="0"/>
                </a:spcBef>
              </a:pPr>
              <a:endParaRPr lang="en-US" sz="4800" u="none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039747"/>
              <a:ext cx="9371294" cy="47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10800000">
            <a:off x="-4610266" y="5467322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2" y="0"/>
                </a:lnTo>
                <a:lnTo>
                  <a:pt x="11277932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1048</Words>
  <Application>Microsoft Macintosh PowerPoint</Application>
  <PresentationFormat>Custom</PresentationFormat>
  <Paragraphs>589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IBM Plex Sans</vt:lpstr>
      <vt:lpstr>Aptos Narrow</vt:lpstr>
      <vt:lpstr>Arial</vt:lpstr>
      <vt:lpstr>IBM Plex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Salesmate AI V0.1</dc:title>
  <cp:lastModifiedBy>Saurabh Prajapati (D&amp;AI/Electronic City/TVSMotor)</cp:lastModifiedBy>
  <cp:revision>7</cp:revision>
  <dcterms:created xsi:type="dcterms:W3CDTF">2006-08-16T00:00:00Z</dcterms:created>
  <dcterms:modified xsi:type="dcterms:W3CDTF">2025-11-06T14:53:32Z</dcterms:modified>
  <dc:identifier>DAGt9sc9doA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847cdb-dc7c-42a2-b569-f8e7db656104_Enabled">
    <vt:lpwstr>true</vt:lpwstr>
  </property>
  <property fmtid="{D5CDD505-2E9C-101B-9397-08002B2CF9AE}" pid="3" name="MSIP_Label_b1847cdb-dc7c-42a2-b569-f8e7db656104_SetDate">
    <vt:lpwstr>2025-07-23T12:12:03Z</vt:lpwstr>
  </property>
  <property fmtid="{D5CDD505-2E9C-101B-9397-08002B2CF9AE}" pid="4" name="MSIP_Label_b1847cdb-dc7c-42a2-b569-f8e7db656104_Method">
    <vt:lpwstr>Privileged</vt:lpwstr>
  </property>
  <property fmtid="{D5CDD505-2E9C-101B-9397-08002B2CF9AE}" pid="5" name="MSIP_Label_b1847cdb-dc7c-42a2-b569-f8e7db656104_Name">
    <vt:lpwstr>External</vt:lpwstr>
  </property>
  <property fmtid="{D5CDD505-2E9C-101B-9397-08002B2CF9AE}" pid="6" name="MSIP_Label_b1847cdb-dc7c-42a2-b569-f8e7db656104_SiteId">
    <vt:lpwstr>d30feff3-78f9-476a-81e4-c71b80743988</vt:lpwstr>
  </property>
  <property fmtid="{D5CDD505-2E9C-101B-9397-08002B2CF9AE}" pid="7" name="MSIP_Label_b1847cdb-dc7c-42a2-b569-f8e7db656104_ActionId">
    <vt:lpwstr>88373e8b-af12-4d84-901a-d392870297b9</vt:lpwstr>
  </property>
  <property fmtid="{D5CDD505-2E9C-101B-9397-08002B2CF9AE}" pid="8" name="MSIP_Label_b1847cdb-dc7c-42a2-b569-f8e7db656104_ContentBits">
    <vt:lpwstr>0</vt:lpwstr>
  </property>
  <property fmtid="{D5CDD505-2E9C-101B-9397-08002B2CF9AE}" pid="9" name="MSIP_Label_b1847cdb-dc7c-42a2-b569-f8e7db656104_Tag">
    <vt:lpwstr>50, 0, 1, 1</vt:lpwstr>
  </property>
</Properties>
</file>